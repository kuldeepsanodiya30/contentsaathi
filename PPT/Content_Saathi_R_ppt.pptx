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9"/>
    <p:sldId id="267" r:id="rId18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E2C"/>
    <a:srgbClr val="00154C"/>
    <a:srgbClr val="000E38"/>
    <a:srgbClr val="0005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  <Relationship Id="rId18" Type="http://schemas.openxmlformats.org/officeDocument/2006/relationships/slide" Target="slides/slide12.xml"/>
  <Relationship Id="rId19" Type="http://schemas.openxmlformats.org/officeDocument/2006/relationships/slide" Target="slides/slide13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9" Type="http://schemas.openxmlformats.org/officeDocument/2006/relationships/image" Target="../media/logo_gsp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hot_api_docs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hot_telegram_bot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822960"/>
            <a:ext cx="4754880" cy="475488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" name="Shape 1"/>
          <p:cNvSpPr/>
          <p:nvPr/>
        </p:nvSpPr>
        <p:spPr>
          <a:xfrm>
            <a:off x="6949440" y="3017520"/>
            <a:ext cx="3108960" cy="310896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4" name="Text 2"/>
          <p:cNvSpPr txBox="1"/>
          <p:nvPr/>
        </p:nvSpPr>
        <p:spPr>
          <a:xfrm>
            <a:off x="640080" y="548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kern="0" spc="4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7  —  INFOCOM PROJECT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43000"/>
            <a:ext cx="59436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Content</a:t>
            </a:r>
            <a:endParaRPr lang="en-US" sz="6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Saathi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D5D9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AI-Powered Content Assistant for Small Businesses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74720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Bef>
                <a:spcPts val="0"/>
              </a:spcBef>
              <a:buNone/>
            </a:pPr>
            <a:r>
              <a:rPr lang="en-US" sz="1300" dirty="0">
                <a:solidFill>
                  <a:srgbClr val="9AA3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Submitted by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Kuldeep Sanodiya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Paras Mehra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Anil Kumar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Gaurav Yadav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3383280" y="3474720"/>
            <a:ext cx="347472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Bef>
                <a:spcPts val="0"/>
              </a:spcBef>
              <a:buNone/>
            </a:pPr>
            <a:r>
              <a:rPr lang="en-US" sz="1300" dirty="0">
                <a:solidFill>
                  <a:srgbClr val="9AA3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Submitted to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Mr. Siddharth Singh Sir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1300" dirty="0">
                <a:solidFill>
                  <a:srgbClr val="9AA3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Branch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 Networking and System Administration</a:t>
            </a:r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2651760" cy="100584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09360" y="182880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Making daily content creation simple and smart.</a:t>
            </a:r>
            <a:endParaRPr lang="en-US" sz="1700" dirty="0"/>
          </a:p>
        </p:txBody>
      </p:sp>
      <p:sp>
        <p:nvSpPr>
          <p:cNvPr id="11" name="Logo Card"/>
          <p:cNvSpPr/>
          <p:nvPr/>
        </p:nvSpPr>
        <p:spPr>
          <a:xfrm>
            <a:off x="6812280" y="320040"/>
            <a:ext cx="1280160" cy="128016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2" name="Logo" descr="Sant Shiromani Ravidas Global Skills Park, Bhopal Madhya Pradesh 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5780" y="383540"/>
            <a:ext cx="1153160" cy="1153160"/>
          </a:xfrm>
          <a:prstGeom prst="rect">
            <a:avLst/>
          </a:prstGeom>
        </p:spPr>
      </p:pic>
      <p:sp>
        <p:nvSpPr>
          <p:cNvPr id="13" name="Project Name Label"/>
          <p:cNvSpPr txBox="1"/>
          <p:nvPr/>
        </p:nvSpPr>
        <p:spPr>
          <a:xfrm>
            <a:off x="640080" y="91440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AA3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 —  INTRODUCTION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3397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Meet Content Saathi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Python-based AI application designed to help small business owners create promotional content easily.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411480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uses Google Gemini AI to generate content from shop details and user requests. Through a Telegram bot, users can generate posts, ask questions and receive AI responses. Content is stored in a database, with options to regenerate, approve or reject drafts.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1325880"/>
            <a:ext cx="3566160" cy="3291840"/>
          </a:xfrm>
          <a:prstGeom prst="rect">
            <a:avLst/>
          </a:prstGeom>
          <a:solidFill>
            <a:srgbClr val="0B1F3A"/>
          </a:solidFill>
        </p:spPr>
      </p:sp>
      <p:sp>
        <p:nvSpPr>
          <p:cNvPr id="7" name="Text 5"/>
          <p:cNvSpPr txBox="1"/>
          <p:nvPr/>
        </p:nvSpPr>
        <p:spPr>
          <a:xfrm>
            <a:off x="5303520" y="15544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kern="0" spc="4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GOAL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2011680"/>
            <a:ext cx="301752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To make content creation faster, easier and more accessible for small businesses.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kern="0" spc="4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41148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Small businesses need regular promotion, but daily content is hard.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402336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Creating daily posts takes time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everyone writes well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writers can be expensive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Regular promotion is hard to maintain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Tracking content manually is difficult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4572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kern="0" spc="4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SOLUTION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914400"/>
            <a:ext cx="329184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Content Saathi uses AI to generate promotional content.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3108960"/>
            <a:ext cx="32918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simple Telegram-based system makes managing that content easy.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 —  OBJECTIVES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807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the project sets out to do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840480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1732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promotional content using AI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3840480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41732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141732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Allow content requests through Telegram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3840480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24028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2402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 AI-powered responses to queries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663440" y="2148840"/>
            <a:ext cx="3840480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224028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22402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Telegram, Instagram and Google Business formats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3840480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06324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0632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Allow content regeneration when needed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840480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306324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30632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generated posts in SQLite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3840480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88620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07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8862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 draft approval and rejection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4663440" y="3794760"/>
            <a:ext cx="3840480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388620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08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38862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scheduled content generation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 —  KEY FEATURES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9097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Eight features, one workflow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4008" cy="6400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5" name="Text 3"/>
          <p:cNvSpPr txBox="1"/>
          <p:nvPr/>
        </p:nvSpPr>
        <p:spPr>
          <a:xfrm>
            <a:off x="777240" y="132588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AI Content Generation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18488"/>
            <a:ext cx="36118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Posts from shop information and user instructions.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64008" cy="64008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8" name="Text 6"/>
          <p:cNvSpPr txBox="1"/>
          <p:nvPr/>
        </p:nvSpPr>
        <p:spPr>
          <a:xfrm>
            <a:off x="777240" y="214884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Telegram Bot Integration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41448"/>
            <a:ext cx="36118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 with the application through Telegram.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64008" cy="6400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1" name="Text 9"/>
          <p:cNvSpPr txBox="1"/>
          <p:nvPr/>
        </p:nvSpPr>
        <p:spPr>
          <a:xfrm>
            <a:off x="777240" y="297180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AI Query Responses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264408"/>
            <a:ext cx="36118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Configured Gemini model answers questions.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64008" cy="64008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14" name="Text 12"/>
          <p:cNvSpPr txBox="1"/>
          <p:nvPr/>
        </p:nvSpPr>
        <p:spPr>
          <a:xfrm>
            <a:off x="777240" y="379476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Regenerate Content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087368"/>
            <a:ext cx="36118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new version when a draft is not satisfactory.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63440" y="1325880"/>
            <a:ext cx="64008" cy="6400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7" name="Text 15"/>
          <p:cNvSpPr txBox="1"/>
          <p:nvPr/>
        </p:nvSpPr>
        <p:spPr>
          <a:xfrm>
            <a:off x="4892040" y="132588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Draft Management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1618488"/>
            <a:ext cx="36118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Review, approve and reject generated posts.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663440" y="2148840"/>
            <a:ext cx="64008" cy="64008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20" name="Text 18"/>
          <p:cNvSpPr txBox="1"/>
          <p:nvPr/>
        </p:nvSpPr>
        <p:spPr>
          <a:xfrm>
            <a:off x="4892040" y="214884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Database Storage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2441448"/>
            <a:ext cx="36118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Posts and statuses saved in SQLite.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663440" y="2971800"/>
            <a:ext cx="64008" cy="6400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3" name="Text 21"/>
          <p:cNvSpPr txBox="1"/>
          <p:nvPr/>
        </p:nvSpPr>
        <p:spPr>
          <a:xfrm>
            <a:off x="4892040" y="297180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Scheduled Generation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3264408"/>
            <a:ext cx="36118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generation at configured times.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663440" y="3794760"/>
            <a:ext cx="64008" cy="64008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26" name="Text 24"/>
          <p:cNvSpPr txBox="1"/>
          <p:nvPr/>
        </p:nvSpPr>
        <p:spPr>
          <a:xfrm>
            <a:off x="4892040" y="379476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 Festival-Based Content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4087368"/>
            <a:ext cx="36118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Festival posts using verified dates.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 —  TECHNOLOGIES USED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65455" y="626237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tools behind it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48640" y="1280160"/>
          <a:ext cx="8046720" cy="3291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Technology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Purpose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Python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Main programming language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Google Gemini AI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Content generation and AI responses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FastAPI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Backend API development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SQLite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Storing generated posts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Telegram Bot API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User communication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JSON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Storing shop information and configuration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Python Scheduler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Scheduling content-generation tasks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Uvicorn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Running the FastAPI server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Python-dotenv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Managing environment variables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 —  SYSTEM ARCHITECTURE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1317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How the system works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88720" cy="731520"/>
          </a:xfrm>
          <a:prstGeom prst="roundRect">
            <a:avLst>
              <a:gd name="adj" fmla="val 12500"/>
            </a:avLst>
          </a:prstGeom>
          <a:solidFill>
            <a:srgbClr val="0B1F3A"/>
          </a:solidFill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1188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User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755648" y="1536192"/>
            <a:ext cx="146304" cy="219456"/>
          </a:xfrm>
          <a:prstGeom prst="rightArrow">
            <a:avLst/>
          </a:prstGeom>
          <a:solidFill>
            <a:srgbClr val="F59E0B"/>
          </a:solidFill>
        </p:spPr>
      </p:sp>
      <p:sp>
        <p:nvSpPr>
          <p:cNvPr id="7" name="Shape 5"/>
          <p:cNvSpPr/>
          <p:nvPr/>
        </p:nvSpPr>
        <p:spPr>
          <a:xfrm>
            <a:off x="1920240" y="1280160"/>
            <a:ext cx="1188720" cy="731520"/>
          </a:xfrm>
          <a:prstGeom prst="roundRect">
            <a:avLst>
              <a:gd name="adj" fmla="val 12500"/>
            </a:avLst>
          </a:prstGeom>
          <a:solidFill>
            <a:srgbClr val="0B1F3A"/>
          </a:solidFill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920240" y="1280160"/>
            <a:ext cx="1188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Telegram Bot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27248" y="1536192"/>
            <a:ext cx="146304" cy="219456"/>
          </a:xfrm>
          <a:prstGeom prst="rightArrow">
            <a:avLst/>
          </a:prstGeom>
          <a:solidFill>
            <a:srgbClr val="F59E0B"/>
          </a:solidFill>
        </p:spPr>
      </p:sp>
      <p:sp>
        <p:nvSpPr>
          <p:cNvPr id="10" name="Shape 8"/>
          <p:cNvSpPr/>
          <p:nvPr/>
        </p:nvSpPr>
        <p:spPr>
          <a:xfrm>
            <a:off x="3291840" y="1280160"/>
            <a:ext cx="1188720" cy="731520"/>
          </a:xfrm>
          <a:prstGeom prst="roundRect">
            <a:avLst>
              <a:gd name="adj" fmla="val 12500"/>
            </a:avLst>
          </a:prstGeom>
          <a:solidFill>
            <a:srgbClr val="0B1F3A"/>
          </a:solidFill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291840" y="1280160"/>
            <a:ext cx="1188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Python / FastAPI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98848" y="1536192"/>
            <a:ext cx="146304" cy="219456"/>
          </a:xfrm>
          <a:prstGeom prst="rightArrow">
            <a:avLst/>
          </a:prstGeom>
          <a:solidFill>
            <a:srgbClr val="F59E0B"/>
          </a:solidFill>
        </p:spPr>
      </p:sp>
      <p:sp>
        <p:nvSpPr>
          <p:cNvPr id="13" name="Shape 11"/>
          <p:cNvSpPr/>
          <p:nvPr/>
        </p:nvSpPr>
        <p:spPr>
          <a:xfrm>
            <a:off x="4663440" y="1280160"/>
            <a:ext cx="1188720" cy="731520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663440" y="1280160"/>
            <a:ext cx="1188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Gemini AI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70448" y="1536192"/>
            <a:ext cx="146304" cy="219456"/>
          </a:xfrm>
          <a:prstGeom prst="rightArrow">
            <a:avLst/>
          </a:prstGeom>
          <a:solidFill>
            <a:srgbClr val="F59E0B"/>
          </a:solidFill>
        </p:spPr>
      </p:sp>
      <p:sp>
        <p:nvSpPr>
          <p:cNvPr id="16" name="Shape 14"/>
          <p:cNvSpPr/>
          <p:nvPr/>
        </p:nvSpPr>
        <p:spPr>
          <a:xfrm>
            <a:off x="6035040" y="1280160"/>
            <a:ext cx="1188720" cy="731520"/>
          </a:xfrm>
          <a:prstGeom prst="roundRect">
            <a:avLst>
              <a:gd name="adj" fmla="val 12500"/>
            </a:avLst>
          </a:prstGeom>
          <a:solidFill>
            <a:srgbClr val="0B1F3A"/>
          </a:solidFill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035040" y="1280160"/>
            <a:ext cx="1188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SQLite DB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242048" y="1536192"/>
            <a:ext cx="146304" cy="219456"/>
          </a:xfrm>
          <a:prstGeom prst="rightArrow">
            <a:avLst/>
          </a:prstGeom>
          <a:solidFill>
            <a:srgbClr val="F59E0B"/>
          </a:solidFill>
        </p:spPr>
      </p:sp>
      <p:sp>
        <p:nvSpPr>
          <p:cNvPr id="19" name="Shape 17"/>
          <p:cNvSpPr/>
          <p:nvPr/>
        </p:nvSpPr>
        <p:spPr>
          <a:xfrm>
            <a:off x="7406640" y="1280160"/>
            <a:ext cx="1188720" cy="731520"/>
          </a:xfrm>
          <a:prstGeom prst="roundRect">
            <a:avLst>
              <a:gd name="adj" fmla="val 12500"/>
            </a:avLst>
          </a:prstGeom>
          <a:solidFill>
            <a:srgbClr val="0B1F3A"/>
          </a:solidFill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406640" y="1280160"/>
            <a:ext cx="1188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Response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42316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242316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r>
              <a:rPr lang="en-US" sz="1400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sends a request through Telegram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2990088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299008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Telegram Bot</a:t>
            </a:r>
            <a:r>
              <a:rPr lang="en-US" sz="1400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receives the command or query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557016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3557016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Backend</a:t>
            </a:r>
            <a:r>
              <a:rPr lang="en-US" sz="1400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processes the request, prepares input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123944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4123944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Gemini AI</a:t>
            </a:r>
            <a:r>
              <a:rPr lang="en-US" sz="1400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generates the content or response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242316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5074920" y="242316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</a:t>
            </a:r>
            <a:r>
              <a:rPr lang="en-US" sz="1400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handles the relevant API operations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663440" y="2990088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5074920" y="299008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 Database</a:t>
            </a:r>
            <a:r>
              <a:rPr lang="en-US" sz="1400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stores posts and their status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663440" y="3557016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5074920" y="3557016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Telegram Bot</a:t>
            </a:r>
            <a:r>
              <a:rPr lang="en-US" sz="1400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returns the result to the user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 — WORKING PROCESS &amp; DATABASE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04520" y="612902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From request to approved post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2588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user sends a command or query through Telegram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84048" cy="384048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87452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application processes the request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384048" cy="38404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1" name="Text 9"/>
          <p:cNvSpPr txBox="1"/>
          <p:nvPr/>
        </p:nvSpPr>
        <p:spPr>
          <a:xfrm>
            <a:off x="548640" y="24231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2316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Gemini AI generates a response or promotional post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384048" cy="384048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4" name="Text 12"/>
          <p:cNvSpPr txBox="1"/>
          <p:nvPr/>
        </p:nvSpPr>
        <p:spPr>
          <a:xfrm>
            <a:off x="548640" y="2971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97180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generated post is saved in the database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7" name="Text 15"/>
          <p:cNvSpPr txBox="1"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52044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user reviews the draft, regenerates if required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84048" cy="384048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0" name="Text 18"/>
          <p:cNvSpPr txBox="1"/>
          <p:nvPr/>
        </p:nvSpPr>
        <p:spPr>
          <a:xfrm>
            <a:off x="548640" y="40690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06908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user approves or rejects the draft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0" y="1280160"/>
            <a:ext cx="3566160" cy="3337560"/>
          </a:xfrm>
          <a:prstGeom prst="roundRect">
            <a:avLst>
              <a:gd name="adj" fmla="val 2740"/>
            </a:avLst>
          </a:prstGeom>
          <a:solidFill>
            <a:srgbClr val="0B1F3A"/>
          </a:solidFill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257800" y="14173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  •  LOCAL STORAGE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257800" y="17373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database/content_saathi.db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257800" y="21488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5CB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Maintains generated post records and status information.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257800" y="2880360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</p:sp>
      <p:sp>
        <p:nvSpPr>
          <p:cNvPr id="27" name="Text 25"/>
          <p:cNvSpPr txBox="1"/>
          <p:nvPr/>
        </p:nvSpPr>
        <p:spPr>
          <a:xfrm>
            <a:off x="5257800" y="2880360"/>
            <a:ext cx="1051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DRAFT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288036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Waiting for review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257800" y="344728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14B8A6"/>
          </a:solidFill>
        </p:spPr>
      </p:sp>
      <p:sp>
        <p:nvSpPr>
          <p:cNvPr id="30" name="Text 28"/>
          <p:cNvSpPr txBox="1"/>
          <p:nvPr/>
        </p:nvSpPr>
        <p:spPr>
          <a:xfrm>
            <a:off x="5257800" y="3447288"/>
            <a:ext cx="1051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APPROVED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3447288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 approved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257800" y="4014216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</p:spPr>
      </p:sp>
      <p:sp>
        <p:nvSpPr>
          <p:cNvPr id="33" name="Text 31"/>
          <p:cNvSpPr txBox="1"/>
          <p:nvPr/>
        </p:nvSpPr>
        <p:spPr>
          <a:xfrm>
            <a:off x="5257800" y="4014216"/>
            <a:ext cx="1051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REJECTED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4014216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 rejected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 —  BENEFITS &amp; FUTURE SCOPE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647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Value today, growth tomorrow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0" y="1325880"/>
            <a:ext cx="0" cy="329184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Benefits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3749040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Saves time and effort in content creation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Makes AI accessible to small businesses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Easy interaction through Telegram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Helps maintain regular promotion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posts for convenient tracking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Keeps the owner involved in approval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280160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B4530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3080"/>
            <a:ext cx="3749040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dashboard for content management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language and tone options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festival calendar verification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Generation and approval analytics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Authorized social media publishing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shops and business accounts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3840480" cy="3840480"/>
          </a:xfrm>
          <a:prstGeom prst="ellipse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-1371600"/>
            <a:ext cx="2926080" cy="292608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4" name="Text 2"/>
          <p:cNvSpPr txBox="1"/>
          <p:nvPr/>
        </p:nvSpPr>
        <p:spPr>
          <a:xfrm>
            <a:off x="3017520" y="5486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38938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An AI-powered application that simplifies promotional content creation for small businesses.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237744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C5CB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combines Python, Gemini AI, FastAPI, SQLite and Telegram to generate content, answer queries, store drafts and support review.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411480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-1097280" y="2926080"/>
            <a:ext cx="3840480" cy="3840480"/>
          </a:xfrm>
          <a:prstGeom prst="ellipse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Shape 1"/>
          <p:cNvSpPr/>
          <p:nvPr/>
        </p:nvSpPr>
        <p:spPr>
          <a:xfrm>
            <a:off x="7772400" y="-1371600"/>
            <a:ext cx="2926080" cy="292608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7" name="Text 2"/>
          <p:cNvSpPr txBox="1"/>
          <p:nvPr/>
        </p:nvSpPr>
        <p:spPr>
          <a:xfrm>
            <a:off x="3017520" y="5486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8" name="Text 3"/>
          <p:cNvSpPr txBox="1"/>
          <p:nvPr/>
        </p:nvSpPr>
        <p:spPr>
          <a:xfrm>
            <a:off x="3017520" y="91440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9" name="Text 4"/>
          <p:cNvSpPr txBox="1"/>
          <p:nvPr/>
        </p:nvSpPr>
        <p:spPr>
          <a:xfrm>
            <a:off x="3017520" y="237744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3270250" y="2027555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bg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</a:t>
            </a:r>
          </a:p>
        </p:txBody>
      </p:sp>
      <p:sp>
        <p:nvSpPr>
          <p:cNvPr id="11" name="Text 6"/>
          <p:cNvSpPr txBox="1"/>
          <p:nvPr/>
        </p:nvSpPr>
        <p:spPr>
          <a:xfrm>
            <a:off x="3017520" y="411480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 —  API ENDPOINTS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807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FastAPI backend shown in Swagger UI</a:t>
            </a:r>
            <a:endParaRPr lang="en-US" sz="1600" dirty="0"/>
          </a:p>
        </p:txBody>
      </p:sp>
      <p:pic>
        <p:nvPicPr>
          <p:cNvPr id="20" name="API Docs Screenshot" descr="Content Saathi API Swagger page listing the home, posts, drafts, generate, approve, reject and regenerate endpoin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17320"/>
            <a:ext cx="6949440" cy="3122051"/>
          </a:xfrm>
          <a:prstGeom prst="rect">
            <a:avLst/>
          </a:prstGeom>
          <a:ln w="12700">
            <a:solidFill>
              <a:srgbClr val="DDE3EE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 —  TELEGRAM BOT OUTPUT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807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generated draft, ready for review</a:t>
            </a:r>
            <a:endParaRPr lang="en-US" sz="1600" dirty="0"/>
          </a:p>
        </p:txBody>
      </p:sp>
      <p:pic>
        <p:nvPicPr>
          <p:cNvPr id="20" name="Telegram Bot Screenshot" descr="Content Saathi Telegram bot showing a generated draft post with Approve, Regenerate and Reject butt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3984171" cy="3200400"/>
          </a:xfrm>
          <a:prstGeom prst="rect">
            <a:avLst/>
          </a:prstGeom>
          <a:ln w="12700">
            <a:solidFill>
              <a:srgbClr val="DDE3EE"/>
            </a:solidFill>
          </a:ln>
        </p:spPr>
      </p:pic>
      <p:sp>
        <p:nvSpPr>
          <p:cNvPr id="30" name="Divider 30"/>
          <p:cNvSpPr/>
          <p:nvPr/>
        </p:nvSpPr>
        <p:spPr>
          <a:xfrm>
            <a:off x="4944291" y="1325880"/>
            <a:ext cx="3651069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40" name="Num 01"/>
          <p:cNvSpPr txBox="1"/>
          <p:nvPr/>
        </p:nvSpPr>
        <p:spPr>
          <a:xfrm>
            <a:off x="4944291" y="1417320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Bef>
                <a:spcPts val="0"/>
              </a:spcBef>
              <a:buNone/>
            </a:pPr>
            <a:r>
              <a:rPr lang="en-US" sz="2600" b="1" dirty="0">
                <a:solidFill>
                  <a:srgbClr val="0D9488"/>
                </a:solidFill>
                <a:latin typeface="Georgia" panose="02040502050405020303" pitchFamily="34" charset="0"/>
              </a:rPr>
              <a:t>01</a:t>
            </a:r>
          </a:p>
        </p:txBody>
      </p:sp>
      <p:sp>
        <p:nvSpPr>
          <p:cNvPr id="50" name="Row 01"/>
          <p:cNvSpPr txBox="1"/>
          <p:nvPr/>
        </p:nvSpPr>
        <p:spPr>
          <a:xfrm>
            <a:off x="5675811" y="1417320"/>
            <a:ext cx="2919549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Bef>
                <a:spcPts val="0"/>
              </a:spcBef>
              <a:buNone/>
            </a:pPr>
            <a:r>
              <a:rPr lang="en-US" sz="1450" b="1" dirty="0">
                <a:solidFill>
                  <a:srgbClr val="0B1F3A"/>
                </a:solidFill>
                <a:latin typeface="Calibri" panose="020F0502020204030204" pitchFamily="34" charset="0"/>
              </a:rPr>
              <a:t>AI-written draft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200" dirty="0">
                <a:solidFill>
                  <a:srgbClr val="5B6B7F"/>
                </a:solidFill>
                <a:latin typeface="Calibri" panose="020F0502020204030204" pitchFamily="34" charset="0"/>
              </a:rPr>
              <a:t>Hinglish promotional post for ApnaMart, Bhopal, with location and hashtags.</a:t>
            </a:r>
          </a:p>
        </p:txBody>
      </p:sp>
      <p:sp>
        <p:nvSpPr>
          <p:cNvPr id="31" name="Divider 31"/>
          <p:cNvSpPr/>
          <p:nvPr/>
        </p:nvSpPr>
        <p:spPr>
          <a:xfrm>
            <a:off x="4944291" y="2194560"/>
            <a:ext cx="3651069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41" name="Num 02"/>
          <p:cNvSpPr txBox="1"/>
          <p:nvPr/>
        </p:nvSpPr>
        <p:spPr>
          <a:xfrm>
            <a:off x="4944291" y="2286000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Bef>
                <a:spcPts val="0"/>
              </a:spcBef>
              <a:buNone/>
            </a:pPr>
            <a:r>
              <a:rPr lang="en-US" sz="2600" b="1" dirty="0">
                <a:solidFill>
                  <a:srgbClr val="0D9488"/>
                </a:solidFill>
                <a:latin typeface="Georgia" panose="02040502050405020303" pitchFamily="34" charset="0"/>
              </a:rPr>
              <a:t>02</a:t>
            </a:r>
          </a:p>
        </p:txBody>
      </p:sp>
      <p:sp>
        <p:nvSpPr>
          <p:cNvPr id="51" name="Row 02"/>
          <p:cNvSpPr txBox="1"/>
          <p:nvPr/>
        </p:nvSpPr>
        <p:spPr>
          <a:xfrm>
            <a:off x="5675811" y="2286000"/>
            <a:ext cx="2919549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Bef>
                <a:spcPts val="0"/>
              </a:spcBef>
              <a:buNone/>
            </a:pPr>
            <a:r>
              <a:rPr lang="en-US" sz="1450" b="1" dirty="0">
                <a:solidFill>
                  <a:srgbClr val="0B1F3A"/>
                </a:solidFill>
                <a:latin typeface="Calibri" panose="020F0502020204030204" pitchFamily="34" charset="0"/>
              </a:rPr>
              <a:t>Status and Post ID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200" dirty="0">
                <a:solidFill>
                  <a:srgbClr val="5B6B7F"/>
                </a:solidFill>
                <a:latin typeface="Calibri" panose="020F0502020204030204" pitchFamily="34" charset="0"/>
              </a:rPr>
              <a:t>Each post is saved as DRAFT with a Post ID for tracking.</a:t>
            </a:r>
          </a:p>
        </p:txBody>
      </p:sp>
      <p:sp>
        <p:nvSpPr>
          <p:cNvPr id="32" name="Divider 32"/>
          <p:cNvSpPr/>
          <p:nvPr/>
        </p:nvSpPr>
        <p:spPr>
          <a:xfrm>
            <a:off x="4944291" y="3063240"/>
            <a:ext cx="3651069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42" name="Num 03"/>
          <p:cNvSpPr txBox="1"/>
          <p:nvPr/>
        </p:nvSpPr>
        <p:spPr>
          <a:xfrm>
            <a:off x="4944291" y="3154680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Bef>
                <a:spcPts val="0"/>
              </a:spcBef>
              <a:buNone/>
            </a:pPr>
            <a:r>
              <a:rPr lang="en-US" sz="2600" b="1" dirty="0">
                <a:solidFill>
                  <a:srgbClr val="0D9488"/>
                </a:solidFill>
                <a:latin typeface="Georgia" panose="02040502050405020303" pitchFamily="34" charset="0"/>
              </a:rPr>
              <a:t>03</a:t>
            </a:r>
          </a:p>
        </p:txBody>
      </p:sp>
      <p:sp>
        <p:nvSpPr>
          <p:cNvPr id="52" name="Row 03"/>
          <p:cNvSpPr txBox="1"/>
          <p:nvPr/>
        </p:nvSpPr>
        <p:spPr>
          <a:xfrm>
            <a:off x="5675811" y="3154680"/>
            <a:ext cx="2919549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Bef>
                <a:spcPts val="0"/>
              </a:spcBef>
              <a:buNone/>
            </a:pPr>
            <a:r>
              <a:rPr lang="en-US" sz="1450" b="1" dirty="0">
                <a:solidFill>
                  <a:srgbClr val="0B1F3A"/>
                </a:solidFill>
                <a:latin typeface="Calibri" panose="020F0502020204030204" pitchFamily="34" charset="0"/>
              </a:rPr>
              <a:t>Review in one tap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200" dirty="0">
                <a:solidFill>
                  <a:srgbClr val="5B6B7F"/>
                </a:solidFill>
                <a:latin typeface="Calibri" panose="020F0502020204030204" pitchFamily="34" charset="0"/>
              </a:rPr>
              <a:t>Approve, Regenerate and Reject buttons appear below the post.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685</Words>
  <Application>Microsoft Office PowerPoint</Application>
  <PresentationFormat>On-screen Show (16:9)</PresentationFormat>
  <Paragraphs>157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Kuldeep Sanodiya</cp:lastModifiedBy>
  <cp:revision>4</cp:revision>
  <dcterms:created xsi:type="dcterms:W3CDTF">2026-10-18T09:04:00Z</dcterms:created>
  <dcterms:modified xsi:type="dcterms:W3CDTF">2026-10-22T11:45:05Z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8046CC9AEDBE45CD9C48134526EADAB3_13</vt:lpwstr>
  </property>
</Properties>
</file>